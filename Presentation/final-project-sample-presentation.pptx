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Lato" panose="020F0502020204030203" pitchFamily="34" charset="0"/>
      <p:regular r:id="rId9"/>
      <p:bold r:id="rId10"/>
      <p:italic r:id="rId11"/>
      <p:boldItalic r:id="rId12"/>
    </p:embeddedFont>
    <p:embeddedFont>
      <p:font typeface="Raleway" pitchFamily="2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FC3B40-C8A5-4A91-9C47-9A8CCDFB0233}" v="1" dt="2026-04-12T21:18:18.7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8642" autoAdjust="0"/>
  </p:normalViewPr>
  <p:slideViewPr>
    <p:cSldViewPr snapToGrid="0">
      <p:cViewPr varScale="1">
        <p:scale>
          <a:sx n="96" d="100"/>
          <a:sy n="96" d="100"/>
        </p:scale>
        <p:origin x="1066" y="77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alph D" userId="b928716e9de3f088" providerId="LiveId" clId="{FF7374A4-F90A-4F9D-8426-350AE038589E}"/>
    <pc:docChg chg="undo custSel modSld">
      <pc:chgData name="Ralph D" userId="b928716e9de3f088" providerId="LiveId" clId="{FF7374A4-F90A-4F9D-8426-350AE038589E}" dt="2026-04-15T00:49:12.530" v="63" actId="6549"/>
      <pc:docMkLst>
        <pc:docMk/>
      </pc:docMkLst>
      <pc:sldChg chg="modSp mod">
        <pc:chgData name="Ralph D" userId="b928716e9de3f088" providerId="LiveId" clId="{FF7374A4-F90A-4F9D-8426-350AE038589E}" dt="2026-04-15T00:49:12.530" v="63" actId="6549"/>
        <pc:sldMkLst>
          <pc:docMk/>
          <pc:sldMk cId="0" sldId="259"/>
        </pc:sldMkLst>
        <pc:spChg chg="mod">
          <ac:chgData name="Ralph D" userId="b928716e9de3f088" providerId="LiveId" clId="{FF7374A4-F90A-4F9D-8426-350AE038589E}" dt="2026-04-15T00:49:12.530" v="63" actId="6549"/>
          <ac:spMkLst>
            <pc:docMk/>
            <pc:sldMk cId="0" sldId="259"/>
            <ac:spMk id="107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84" name="Google Shape;84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Make the title realistic. Do not write something generic such as “Final Project.”</a:t>
            </a: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fbf69c27a6_0_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0" name="Google Shape;90;gfbf69c27a6_0_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Use this area to provide a brief description of the database/company you chose. If it is fictional, please mention that.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More importantly, this is a good place to list your main goals for the project.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fbf69c27a6_0_9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97" name="Google Shape;97;gfbf69c27a6_0_9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Because most of the groups will follow the same process, don’t feel obligated to go through every step in your presentation. This is mostly for your instructor to read.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However, if one of your steps is interesting (e.g., a challenge with the database conversion, required data wrangling, table normalization, etc.), then feel free to briefly describe for your classmates during the presentation.</a:t>
            </a:r>
            <a:endParaRPr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fbf69c27a6_0_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04" name="Google Shape;104;gfbf69c27a6_0_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Put your main findings here. You can use multiple slides, if necessary. However, don’t describe every one of your queries. You will run out of time!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After a quick overview, switch to VS Code to show the results of key queries (yes, you should run them during the presentation!)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You can also add multiple slides for key visualizations or show them to the class in VS Code or GitHub.</a:t>
            </a:r>
            <a:endParaRPr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fbf69c27a6_0_10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1" name="Google Shape;111;gfbf69c27a6_0_10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In addition to key conclusions, try making some recommendations. Many business analysts are in a position to make recommendations to the management team based on the results of their (or the team’s) analysis. Give it a try!</a:t>
            </a:r>
            <a:endParaRPr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fbf69c27a6_0_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  <p:sp>
        <p:nvSpPr>
          <p:cNvPr id="118" name="Google Shape;118;gfbf69c27a6_0_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Students: Most of you will have these three sources: Where your database/dataset came from, your GitHub repo, and the Gen AI used for assistance with database conversion, wrangling, etc.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- Be sure to add any other sources used for research into your specific topic</a:t>
            </a:r>
            <a:endParaRPr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lt2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2" name="Google Shape;12;p2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4" name="Google Shape;14;p2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66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5" name="Google Shape;15;p2"/>
          <p:cNvSpPr txBox="1">
            <a:spLocks noGrp="1"/>
          </p:cNvSpPr>
          <p:nvPr>
            <p:ph type="subTitle" idx="1"/>
          </p:nvPr>
        </p:nvSpPr>
        <p:spPr>
          <a:xfrm>
            <a:off x="729627" y="3172900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16" name="Google Shape;16;p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bg>
      <p:bgPr>
        <a:solidFill>
          <a:schemeClr val="dk1"/>
        </a:solidFill>
        <a:effectLst/>
      </p:bgPr>
    </p:bg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oogle Shape;18;p3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19" name="Google Shape;19;p3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3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729450" y="1322450"/>
            <a:ext cx="7688400" cy="1518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5" name="Google Shape;25;p4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26" name="Google Shape;26;p4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4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8" name="Google Shape;28;p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5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33" name="Google Shape;33;p5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34" name="Google Shape;34;p5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" name="Google Shape;35;p5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36" name="Google Shape;36;p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body" idx="1"/>
          </p:nvPr>
        </p:nvSpPr>
        <p:spPr>
          <a:xfrm>
            <a:off x="729325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body" idx="2"/>
          </p:nvPr>
        </p:nvSpPr>
        <p:spPr>
          <a:xfrm>
            <a:off x="4643604" y="2078875"/>
            <a:ext cx="37743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2" name="Google Shape;42;p6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43" name="Google Shape;43;p6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" name="Google Shape;44;p6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5" name="Google Shape;45;p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46" name="Google Shape;46;p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7"/>
          <p:cNvSpPr/>
          <p:nvPr/>
        </p:nvSpPr>
        <p:spPr>
          <a:xfrm>
            <a:off x="0" y="0"/>
            <a:ext cx="9144000" cy="48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50" name="Google Shape;50;p7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51;p7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2" name="Google Shape;52;p7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38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53" name="Google Shape;53;p7"/>
          <p:cNvSpPr txBox="1">
            <a:spLocks noGrp="1"/>
          </p:cNvSpPr>
          <p:nvPr>
            <p:ph type="body" idx="1"/>
          </p:nvPr>
        </p:nvSpPr>
        <p:spPr>
          <a:xfrm>
            <a:off x="721225" y="2781725"/>
            <a:ext cx="3300900" cy="159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bg>
      <p:bgPr>
        <a:solidFill>
          <a:schemeClr val="accent3"/>
        </a:solidFill>
        <a:effectLst/>
      </p:bgPr>
    </p:bg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" name="Google Shape;56;p8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57" name="Google Shape;57;p8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58;p8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59" name="Google Shape;59;p8"/>
          <p:cNvSpPr txBox="1">
            <a:spLocks noGrp="1"/>
          </p:cNvSpPr>
          <p:nvPr>
            <p:ph type="title"/>
          </p:nvPr>
        </p:nvSpPr>
        <p:spPr>
          <a:xfrm>
            <a:off x="729450" y="864300"/>
            <a:ext cx="7021200" cy="2985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60" name="Google Shape;60;p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9"/>
          <p:cNvSpPr/>
          <p:nvPr/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63" name="Google Shape;63;p9"/>
          <p:cNvGrpSpPr/>
          <p:nvPr/>
        </p:nvGrpSpPr>
        <p:grpSpPr>
          <a:xfrm>
            <a:off x="830392" y="1191256"/>
            <a:ext cx="745763" cy="45826"/>
            <a:chOff x="4580561" y="2589004"/>
            <a:chExt cx="1064464" cy="25200"/>
          </a:xfrm>
        </p:grpSpPr>
        <p:sp>
          <p:nvSpPr>
            <p:cNvPr id="64" name="Google Shape;64;p9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65;p9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66" name="Google Shape;66;p9"/>
          <p:cNvSpPr txBox="1">
            <a:spLocks noGrp="1"/>
          </p:cNvSpPr>
          <p:nvPr>
            <p:ph type="title"/>
          </p:nvPr>
        </p:nvSpPr>
        <p:spPr>
          <a:xfrm>
            <a:off x="730000" y="1318650"/>
            <a:ext cx="3300900" cy="168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1pPr>
            <a:lvl2pPr lvl="1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2pPr>
            <a:lvl3pPr lvl="2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3pPr>
            <a:lvl4pPr lvl="3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4pPr>
            <a:lvl5pPr lvl="4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5pPr>
            <a:lvl6pPr lvl="5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6pPr>
            <a:lvl7pPr lvl="6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7pPr>
            <a:lvl8pPr lvl="7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8pPr>
            <a:lvl9pPr lvl="8">
              <a:spcBef>
                <a:spcPts val="0"/>
              </a:spcBef>
              <a:spcAft>
                <a:spcPts val="0"/>
              </a:spcAft>
              <a:buSzPts val="2600"/>
              <a:buNone/>
              <a:defRPr sz="2600"/>
            </a:lvl9pPr>
          </a:lstStyle>
          <a:p>
            <a:endParaRPr/>
          </a:p>
        </p:txBody>
      </p:sp>
      <p:sp>
        <p:nvSpPr>
          <p:cNvPr id="67" name="Google Shape;67;p9"/>
          <p:cNvSpPr txBox="1">
            <a:spLocks noGrp="1"/>
          </p:cNvSpPr>
          <p:nvPr>
            <p:ph type="subTitle" idx="1"/>
          </p:nvPr>
        </p:nvSpPr>
        <p:spPr>
          <a:xfrm>
            <a:off x="724950" y="3161525"/>
            <a:ext cx="3300900" cy="759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68" name="Google Shape;68;p9"/>
          <p:cNvSpPr txBox="1">
            <a:spLocks noGrp="1"/>
          </p:cNvSpPr>
          <p:nvPr>
            <p:ph type="body" idx="2"/>
          </p:nvPr>
        </p:nvSpPr>
        <p:spPr>
          <a:xfrm>
            <a:off x="5174225" y="1352625"/>
            <a:ext cx="3374400" cy="3025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>
            <a:endParaRPr/>
          </a:p>
        </p:txBody>
      </p:sp>
      <p:sp>
        <p:nvSpPr>
          <p:cNvPr id="69" name="Google Shape;69;p9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0"/>
          <p:cNvSpPr txBox="1">
            <a:spLocks noGrp="1"/>
          </p:cNvSpPr>
          <p:nvPr>
            <p:ph type="body" idx="1"/>
          </p:nvPr>
        </p:nvSpPr>
        <p:spPr>
          <a:xfrm>
            <a:off x="724950" y="4372551"/>
            <a:ext cx="7697400" cy="460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>
            <a:endParaRPr/>
          </a:p>
        </p:txBody>
      </p:sp>
      <p:sp>
        <p:nvSpPr>
          <p:cNvPr id="72" name="Google Shape;72;p10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bg>
      <p:bgPr>
        <a:solidFill>
          <a:schemeClr val="dk1"/>
        </a:solidFill>
        <a:effectLst/>
      </p:bgPr>
    </p:bg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4" name="Google Shape;74;p11"/>
          <p:cNvGrpSpPr/>
          <p:nvPr/>
        </p:nvGrpSpPr>
        <p:grpSpPr>
          <a:xfrm>
            <a:off x="830392" y="4169130"/>
            <a:ext cx="745763" cy="45826"/>
            <a:chOff x="4580561" y="2589004"/>
            <a:chExt cx="1064464" cy="25200"/>
          </a:xfrm>
        </p:grpSpPr>
        <p:sp>
          <p:nvSpPr>
            <p:cNvPr id="75" name="Google Shape;75;p11"/>
            <p:cNvSpPr/>
            <p:nvPr/>
          </p:nvSpPr>
          <p:spPr>
            <a:xfrm rot="-5400000">
              <a:off x="5366325" y="2335504"/>
              <a:ext cx="25200" cy="5322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76;p11"/>
            <p:cNvSpPr/>
            <p:nvPr/>
          </p:nvSpPr>
          <p:spPr>
            <a:xfrm rot="-5400000">
              <a:off x="4836311" y="2333254"/>
              <a:ext cx="25200" cy="5367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77" name="Google Shape;77;p11"/>
          <p:cNvSpPr txBox="1">
            <a:spLocks noGrp="1"/>
          </p:cNvSpPr>
          <p:nvPr>
            <p:ph type="title" hasCustomPrompt="1"/>
          </p:nvPr>
        </p:nvSpPr>
        <p:spPr>
          <a:xfrm>
            <a:off x="729450" y="733950"/>
            <a:ext cx="7688400" cy="124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0"/>
              <a:buNone/>
              <a:defRPr sz="8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78" name="Google Shape;78;p11"/>
          <p:cNvSpPr txBox="1">
            <a:spLocks noGrp="1"/>
          </p:cNvSpPr>
          <p:nvPr>
            <p:ph type="body" idx="1"/>
          </p:nvPr>
        </p:nvSpPr>
        <p:spPr>
          <a:xfrm>
            <a:off x="729450" y="2272888"/>
            <a:ext cx="7688400" cy="1580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●"/>
              <a:defRPr>
                <a:solidFill>
                  <a:schemeClr val="lt1"/>
                </a:solidFill>
              </a:defRPr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>
                <a:solidFill>
                  <a:schemeClr val="lt1"/>
                </a:solidFill>
              </a:defRPr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79" name="Google Shape;79;p1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2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treamlin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800"/>
              <a:buFont typeface="Raleway"/>
              <a:buNone/>
              <a:defRPr sz="2800" b="1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300"/>
              <a:buFont typeface="Lato"/>
              <a:buChar char="●"/>
              <a:defRPr sz="13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lvl="1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lvl="2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●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○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100"/>
              <a:buFont typeface="Lato"/>
              <a:buChar char="■"/>
              <a:defRPr sz="11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r">
              <a:buNone/>
              <a:defRPr sz="1000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crosoftLearning/dp-300-database-administrator/blob/master/Instructions/Templates/AdventureWorks.bacpac" TargetMode="Externa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github.com/marcel084/AdventureWorks-Procurement-Analysis" TargetMode="External"/><Relationship Id="rId4" Type="http://schemas.openxmlformats.org/officeDocument/2006/relationships/hyperlink" Target="https://gemini.google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3"/>
          <p:cNvSpPr txBox="1">
            <a:spLocks noGrp="1"/>
          </p:cNvSpPr>
          <p:nvPr>
            <p:ph type="ctrTitle"/>
          </p:nvPr>
        </p:nvSpPr>
        <p:spPr>
          <a:xfrm>
            <a:off x="729450" y="1322450"/>
            <a:ext cx="7688100" cy="1349188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US" sz="3280" dirty="0"/>
              <a:t>Procurement Financials For AdventureWorks Bicycle Company</a:t>
            </a:r>
            <a:endParaRPr sz="3280" dirty="0"/>
          </a:p>
        </p:txBody>
      </p:sp>
      <p:sp>
        <p:nvSpPr>
          <p:cNvPr id="87" name="Google Shape;87;p13"/>
          <p:cNvSpPr txBox="1">
            <a:spLocks noGrp="1"/>
          </p:cNvSpPr>
          <p:nvPr>
            <p:ph type="subTitle" idx="1"/>
          </p:nvPr>
        </p:nvSpPr>
        <p:spPr>
          <a:xfrm>
            <a:off x="729627" y="3634077"/>
            <a:ext cx="7688100" cy="541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Marcel Socorro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Ralph De Arazoza</a:t>
            </a:r>
            <a:endParaRPr dirty="0"/>
          </a:p>
        </p:txBody>
      </p:sp>
      <p:sp>
        <p:nvSpPr>
          <p:cNvPr id="2" name="Google Shape;87;p13">
            <a:extLst>
              <a:ext uri="{FF2B5EF4-FFF2-40B4-BE49-F238E27FC236}">
                <a16:creationId xmlns:a16="http://schemas.microsoft.com/office/drawing/2014/main" id="{B774AC53-1581-6082-6D2A-09F1D8A45DC7}"/>
              </a:ext>
            </a:extLst>
          </p:cNvPr>
          <p:cNvSpPr txBox="1">
            <a:spLocks/>
          </p:cNvSpPr>
          <p:nvPr/>
        </p:nvSpPr>
        <p:spPr>
          <a:xfrm>
            <a:off x="727950" y="2544239"/>
            <a:ext cx="7688100" cy="54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111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600"/>
              <a:buFont typeface="Lato"/>
              <a:buNone/>
              <a:defRPr sz="1600" b="0" i="0" u="none" strike="noStrike" cap="non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marL="0" indent="0"/>
            <a:r>
              <a:rPr lang="en-US" sz="2000" i="1" dirty="0">
                <a:solidFill>
                  <a:schemeClr val="accent1">
                    <a:lumMod val="75000"/>
                  </a:schemeClr>
                </a:solidFill>
              </a:rPr>
              <a:t>A comprehensive audit of the company’s purchasing history</a:t>
            </a:r>
            <a:endParaRPr lang="pt-BR" sz="2000" i="1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4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 dirty="0"/>
              <a:t>Introduction</a:t>
            </a:r>
            <a:endParaRPr sz="2240" dirty="0"/>
          </a:p>
        </p:txBody>
      </p:sp>
      <p:sp>
        <p:nvSpPr>
          <p:cNvPr id="93" name="Google Shape;93;p14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26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lnSpcReduction="10000"/>
          </a:bodyPr>
          <a:lstStyle/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500" dirty="0">
                <a:solidFill>
                  <a:schemeClr val="dk2"/>
                </a:solidFill>
              </a:rPr>
              <a:t>AdventureWorks is a fictional company in Seattle, Washington</a:t>
            </a:r>
            <a:endParaRPr sz="1500" dirty="0">
              <a:solidFill>
                <a:schemeClr val="dk2"/>
              </a:solidFill>
            </a:endParaRP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300" dirty="0">
                <a:solidFill>
                  <a:schemeClr val="dk2"/>
                </a:solidFill>
              </a:rPr>
              <a:t>Specializes in the production and distribution of bicycles</a:t>
            </a:r>
            <a:endParaRPr sz="1300" dirty="0">
              <a:solidFill>
                <a:schemeClr val="dk2"/>
              </a:solidFill>
            </a:endParaRPr>
          </a:p>
          <a:p>
            <a:pPr marL="457200" lvl="0" indent="-323850" algn="l" rtl="0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500" dirty="0">
                <a:solidFill>
                  <a:schemeClr val="dk2"/>
                </a:solidFill>
              </a:rPr>
              <a:t>Analysis goals:</a:t>
            </a: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300" dirty="0">
                <a:solidFill>
                  <a:schemeClr val="dk2"/>
                </a:solidFill>
              </a:rPr>
              <a:t>Comprehensive audit of their purchasing history</a:t>
            </a: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300" dirty="0">
                <a:solidFill>
                  <a:schemeClr val="dk2"/>
                </a:solidFill>
              </a:rPr>
              <a:t>Check for issues with vendors or shipping methods</a:t>
            </a: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300" dirty="0">
                <a:solidFill>
                  <a:schemeClr val="dk2"/>
                </a:solidFill>
              </a:rPr>
              <a:t>Flag shipment anomalies </a:t>
            </a:r>
            <a:endParaRPr sz="1300" dirty="0">
              <a:solidFill>
                <a:schemeClr val="dk2"/>
              </a:solidFill>
            </a:endParaRP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endParaRPr sz="1300" dirty="0">
              <a:solidFill>
                <a:schemeClr val="dk2"/>
              </a:solidFill>
            </a:endParaRPr>
          </a:p>
        </p:txBody>
      </p:sp>
      <p:sp>
        <p:nvSpPr>
          <p:cNvPr id="94" name="Google Shape;94;p14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15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 dirty="0"/>
              <a:t>Process</a:t>
            </a:r>
            <a:endParaRPr sz="2240" dirty="0"/>
          </a:p>
        </p:txBody>
      </p:sp>
      <p:sp>
        <p:nvSpPr>
          <p:cNvPr id="100" name="Google Shape;100;p15"/>
          <p:cNvSpPr txBox="1">
            <a:spLocks noGrp="1"/>
          </p:cNvSpPr>
          <p:nvPr>
            <p:ph type="body" idx="1"/>
          </p:nvPr>
        </p:nvSpPr>
        <p:spPr>
          <a:xfrm>
            <a:off x="729450" y="2078875"/>
            <a:ext cx="7688700" cy="2670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/>
          </a:bodyPr>
          <a:lstStyle/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-US" sz="1500" dirty="0">
                <a:solidFill>
                  <a:schemeClr val="dk2"/>
                </a:solidFill>
              </a:rPr>
              <a:t>Downloaded a backup of the database in </a:t>
            </a:r>
            <a:r>
              <a:rPr lang="en-US" sz="1500" i="1" dirty="0">
                <a:solidFill>
                  <a:schemeClr val="dk2"/>
                </a:solidFill>
              </a:rPr>
              <a:t>.</a:t>
            </a:r>
            <a:r>
              <a:rPr lang="en-US" sz="1500" i="1" dirty="0" err="1">
                <a:solidFill>
                  <a:schemeClr val="dk2"/>
                </a:solidFill>
              </a:rPr>
              <a:t>bacpac</a:t>
            </a:r>
            <a:r>
              <a:rPr lang="en-US" sz="1500" dirty="0">
                <a:solidFill>
                  <a:schemeClr val="dk2"/>
                </a:solidFill>
              </a:rPr>
              <a:t> format</a:t>
            </a:r>
            <a:endParaRPr sz="1500" dirty="0">
              <a:solidFill>
                <a:schemeClr val="dk2"/>
              </a:solidFill>
            </a:endParaRPr>
          </a:p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-US" sz="1500" dirty="0">
                <a:solidFill>
                  <a:schemeClr val="dk2"/>
                </a:solidFill>
              </a:rPr>
              <a:t>Uploaded the file to an Azure storage container and restored as an Azure SQL database</a:t>
            </a:r>
            <a:endParaRPr sz="1500" dirty="0">
              <a:solidFill>
                <a:schemeClr val="dk2"/>
              </a:solidFill>
            </a:endParaRPr>
          </a:p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-US" sz="1500" dirty="0">
                <a:solidFill>
                  <a:schemeClr val="dk2"/>
                </a:solidFill>
              </a:rPr>
              <a:t>Connected the Azure SQL database to VS Code</a:t>
            </a:r>
          </a:p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-US" sz="1500" dirty="0">
                <a:solidFill>
                  <a:schemeClr val="dk2"/>
                </a:solidFill>
              </a:rPr>
              <a:t>Created over a dozen T-SQL queries to explore and analyze the purchasing history of the company</a:t>
            </a:r>
            <a:endParaRPr sz="1300" dirty="0">
              <a:solidFill>
                <a:schemeClr val="dk2"/>
              </a:solidFill>
            </a:endParaRPr>
          </a:p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" sz="1500" dirty="0">
                <a:solidFill>
                  <a:schemeClr val="dk2"/>
                </a:solidFill>
              </a:rPr>
              <a:t>Visualized key results using DBCode</a:t>
            </a:r>
          </a:p>
          <a:p>
            <a:pPr marL="476250" lvl="0" indent="-342900" algn="l" rtl="0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Clr>
                <a:schemeClr val="dk2"/>
              </a:buClr>
              <a:buSzPts val="1500"/>
              <a:buFont typeface="+mj-lt"/>
              <a:buAutoNum type="arabicPeriod"/>
            </a:pPr>
            <a:r>
              <a:rPr lang="en" sz="1500" dirty="0">
                <a:solidFill>
                  <a:schemeClr val="dk2"/>
                </a:solidFill>
              </a:rPr>
              <a:t>Collaborated with teammates via GitHub</a:t>
            </a: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101" name="Google Shape;101;p15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6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 dirty="0"/>
              <a:t>Analysis and Findings</a:t>
            </a:r>
            <a:endParaRPr sz="2240" dirty="0"/>
          </a:p>
        </p:txBody>
      </p:sp>
      <p:sp>
        <p:nvSpPr>
          <p:cNvPr id="107" name="Google Shape;107;p16"/>
          <p:cNvSpPr txBox="1">
            <a:spLocks noGrp="1"/>
          </p:cNvSpPr>
          <p:nvPr>
            <p:ph type="body" idx="1"/>
          </p:nvPr>
        </p:nvSpPr>
        <p:spPr>
          <a:xfrm>
            <a:off x="729450" y="2078874"/>
            <a:ext cx="7688700" cy="267097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Busiest order period: Middle of the year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Purchase order totals ($) have gone up each year (2011-2014), showing growth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Bicycle components comprise the majority of purchase order expenses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We have 18 vendors that have never been used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Orders from Chicago City Saddles (for seats) consistently exceed freight threshold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Only two orders have ever </a:t>
            </a:r>
            <a:r>
              <a:rPr lang="en-US" sz="1500">
                <a:solidFill>
                  <a:schemeClr val="dk2"/>
                </a:solidFill>
              </a:rPr>
              <a:t>arrived late</a:t>
            </a:r>
            <a:endParaRPr lang="en-US" sz="1500" dirty="0">
              <a:solidFill>
                <a:schemeClr val="dk2"/>
              </a:solidFill>
            </a:endParaRP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53 Vendors have a high rejection rate (&gt;5%), with one vendor over 10%. </a:t>
            </a:r>
          </a:p>
          <a:p>
            <a:pPr indent="-323850">
              <a:spcAft>
                <a:spcPts val="1200"/>
              </a:spcAft>
              <a:buClr>
                <a:schemeClr val="dk2"/>
              </a:buClr>
              <a:buSzPts val="1500"/>
            </a:pPr>
            <a:endParaRPr sz="1500" dirty="0">
              <a:solidFill>
                <a:schemeClr val="dk2"/>
              </a:solidFill>
            </a:endParaRPr>
          </a:p>
        </p:txBody>
      </p:sp>
      <p:sp>
        <p:nvSpPr>
          <p:cNvPr id="108" name="Google Shape;108;p16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7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240" dirty="0"/>
              <a:t>Conclusion and Recommendations</a:t>
            </a:r>
            <a:endParaRPr sz="2240" dirty="0"/>
          </a:p>
        </p:txBody>
      </p:sp>
      <p:sp>
        <p:nvSpPr>
          <p:cNvPr id="114" name="Google Shape;114;p17"/>
          <p:cNvSpPr txBox="1">
            <a:spLocks noGrp="1"/>
          </p:cNvSpPr>
          <p:nvPr>
            <p:ph type="body" idx="1"/>
          </p:nvPr>
        </p:nvSpPr>
        <p:spPr>
          <a:xfrm>
            <a:off x="729450" y="2078874"/>
            <a:ext cx="7688700" cy="2540833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10000"/>
          </a:bodyPr>
          <a:lstStyle/>
          <a:p>
            <a:pPr marL="457200" lvl="0" indent="-323850" algn="l" rtl="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500" dirty="0">
                <a:solidFill>
                  <a:schemeClr val="dk2"/>
                </a:solidFill>
              </a:rPr>
              <a:t>The company’s procurement department is doing well</a:t>
            </a:r>
          </a:p>
          <a:p>
            <a:pPr lvl="1"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  <a:buChar char="●"/>
            </a:pPr>
            <a:r>
              <a:rPr lang="en-US" sz="1400" dirty="0">
                <a:solidFill>
                  <a:schemeClr val="dk2"/>
                </a:solidFill>
              </a:rPr>
              <a:t>No major issues were detected during the audit</a:t>
            </a:r>
          </a:p>
          <a:p>
            <a:pPr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Recommendation #1: Remove vendors that have never been used</a:t>
            </a:r>
          </a:p>
          <a:p>
            <a:pPr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Recommendation #2: Investigate vendor Custom Frames, Inc., whose products have a 10.3% rejection rate</a:t>
            </a:r>
          </a:p>
          <a:p>
            <a:pPr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Recommendation #3: Negotiate better freight for shipments from Chicago City Saddles</a:t>
            </a:r>
          </a:p>
          <a:p>
            <a:pPr indent="-323850">
              <a:lnSpc>
                <a:spcPct val="100000"/>
              </a:lnSpc>
              <a:spcAft>
                <a:spcPts val="1200"/>
              </a:spcAft>
              <a:buClr>
                <a:schemeClr val="dk2"/>
              </a:buClr>
              <a:buSzPts val="1500"/>
            </a:pPr>
            <a:r>
              <a:rPr lang="en-US" sz="1500" dirty="0">
                <a:solidFill>
                  <a:schemeClr val="dk2"/>
                </a:solidFill>
              </a:rPr>
              <a:t>Recommendation #4: Increase procurement budget based on purchasing trends</a:t>
            </a:r>
          </a:p>
        </p:txBody>
      </p:sp>
      <p:sp>
        <p:nvSpPr>
          <p:cNvPr id="115" name="Google Shape;115;p17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>
            <a:spLocks noGrp="1"/>
          </p:cNvSpPr>
          <p:nvPr>
            <p:ph type="title"/>
          </p:nvPr>
        </p:nvSpPr>
        <p:spPr>
          <a:xfrm>
            <a:off x="729450" y="1318650"/>
            <a:ext cx="7688700" cy="535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121" name="Google Shape;121;p18"/>
          <p:cNvSpPr txBox="1">
            <a:spLocks noGrp="1"/>
          </p:cNvSpPr>
          <p:nvPr>
            <p:ph type="body" idx="1"/>
          </p:nvPr>
        </p:nvSpPr>
        <p:spPr>
          <a:xfrm>
            <a:off x="729450" y="2078874"/>
            <a:ext cx="7688700" cy="2493125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u="sng" dirty="0">
                <a:hlinkClick r:id="rId3"/>
              </a:rPr>
              <a:t>https://github.com/MicrosoftLearning/dp-300-database-administrator/blob/master/Instructions/Templates/AdventureWorks.bacpac</a:t>
            </a:r>
            <a:r>
              <a:rPr lang="en-US" dirty="0"/>
              <a:t> - Source of AdventureWorks OLTP 2017 database</a:t>
            </a:r>
            <a:endParaRPr lang="en-US" dirty="0">
              <a:hlinkClick r:id="rId4"/>
            </a:endParaRPr>
          </a:p>
          <a:p>
            <a:pPr marL="0" lv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>
                <a:hlinkClick r:id="rId5"/>
              </a:rPr>
              <a:t>https://github.com/marcel084/AdventureWorks-Procurement-Analysis</a:t>
            </a:r>
            <a:r>
              <a:rPr lang="en-US" dirty="0"/>
              <a:t> - Our GitHub repository</a:t>
            </a:r>
          </a:p>
          <a:p>
            <a:pPr marL="0" indent="0">
              <a:lnSpc>
                <a:spcPct val="100000"/>
              </a:lnSpc>
              <a:spcAft>
                <a:spcPts val="1200"/>
              </a:spcAft>
              <a:buNone/>
            </a:pPr>
            <a:r>
              <a:rPr lang="en-US" dirty="0">
                <a:hlinkClick r:id="rId4"/>
              </a:rPr>
              <a:t>https://gemini.google.com/</a:t>
            </a:r>
            <a:r>
              <a:rPr lang="en-US" dirty="0"/>
              <a:t> - Assistance with bonus T-SQL query</a:t>
            </a:r>
          </a:p>
        </p:txBody>
      </p:sp>
      <p:sp>
        <p:nvSpPr>
          <p:cNvPr id="122" name="Google Shape;122;p18"/>
          <p:cNvSpPr txBox="1">
            <a:spLocks noGrp="1"/>
          </p:cNvSpPr>
          <p:nvPr>
            <p:ph type="sldNum" idx="12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reamline">
  <a:themeElements>
    <a:clrScheme name="Streamline">
      <a:dk1>
        <a:srgbClr val="1A9988"/>
      </a:dk1>
      <a:lt1>
        <a:srgbClr val="FFFFFF"/>
      </a:lt1>
      <a:dk2>
        <a:srgbClr val="1A1A1A"/>
      </a:dk2>
      <a:lt2>
        <a:srgbClr val="E9EDEE"/>
      </a:lt2>
      <a:accent1>
        <a:srgbClr val="595959"/>
      </a:accent1>
      <a:accent2>
        <a:srgbClr val="6AA4C8"/>
      </a:accent2>
      <a:accent3>
        <a:srgbClr val="EB5600"/>
      </a:accent3>
      <a:accent4>
        <a:srgbClr val="A2FFE8"/>
      </a:accent4>
      <a:accent5>
        <a:srgbClr val="1C3678"/>
      </a:accent5>
      <a:accent6>
        <a:srgbClr val="FFB8A2"/>
      </a:accent6>
      <a:hlink>
        <a:srgbClr val="1C3678"/>
      </a:hlink>
      <a:folHlink>
        <a:srgbClr val="1C367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218</TotalTime>
  <Words>652</Words>
  <Application>Microsoft Office PowerPoint</Application>
  <PresentationFormat>On-screen Show (16:9)</PresentationFormat>
  <Paragraphs>53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Lato</vt:lpstr>
      <vt:lpstr>Raleway</vt:lpstr>
      <vt:lpstr>Arial</vt:lpstr>
      <vt:lpstr>Streamline</vt:lpstr>
      <vt:lpstr>Procurement Financials For AdventureWorks Bicycle Company</vt:lpstr>
      <vt:lpstr>Introduction</vt:lpstr>
      <vt:lpstr>Process</vt:lpstr>
      <vt:lpstr>Analysis and Findings</vt:lpstr>
      <vt:lpstr>Conclusion and Recommendations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Procurement Financials For AdventureWorks Bicycle Company</dc:title>
  <cp:lastModifiedBy>De Arazoza, Ralph</cp:lastModifiedBy>
  <cp:revision>7</cp:revision>
  <dcterms:modified xsi:type="dcterms:W3CDTF">2026-04-15T00:49:21Z</dcterms:modified>
</cp:coreProperties>
</file>